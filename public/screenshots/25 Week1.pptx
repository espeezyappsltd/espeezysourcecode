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93" r:id="rId2"/>
  </p:sldMasterIdLst>
  <p:notesMasterIdLst>
    <p:notesMasterId r:id="rId15"/>
  </p:notesMasterIdLst>
  <p:sldIdLst>
    <p:sldId id="257" r:id="rId3"/>
    <p:sldId id="265" r:id="rId4"/>
    <p:sldId id="266" r:id="rId5"/>
    <p:sldId id="304" r:id="rId6"/>
    <p:sldId id="295" r:id="rId7"/>
    <p:sldId id="305" r:id="rId8"/>
    <p:sldId id="299" r:id="rId9"/>
    <p:sldId id="277" r:id="rId10"/>
    <p:sldId id="287" r:id="rId11"/>
    <p:sldId id="271" r:id="rId12"/>
    <p:sldId id="280" r:id="rId13"/>
    <p:sldId id="279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/>
    <p:restoredTop sz="94648"/>
  </p:normalViewPr>
  <p:slideViewPr>
    <p:cSldViewPr>
      <p:cViewPr varScale="1">
        <p:scale>
          <a:sx n="79" d="100"/>
          <a:sy n="79" d="100"/>
        </p:scale>
        <p:origin x="-12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AA2A7-392E-C44E-A4B6-16EC665B3146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5469F-C1C5-A249-83EB-F4DA4A563A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849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5469F-C1C5-A249-83EB-F4DA4A563A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351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17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7980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31147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0325"/>
            <a:ext cx="4038600" cy="4370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0325"/>
            <a:ext cx="4038600" cy="4370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16639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35587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7452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92965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8040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35940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61901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77838"/>
            <a:ext cx="2057400" cy="5222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77838"/>
            <a:ext cx="6019800" cy="5222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1035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Droplets-SD-Title-R1d.png">
            <a:extLst>
              <a:ext uri="{FF2B5EF4-FFF2-40B4-BE49-F238E27FC236}">
                <a16:creationId xmlns:a16="http://schemas.microsoft.com/office/drawing/2014/main" xmlns="" id="{70303E8B-0849-B3BD-AC7F-B1134DA0C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/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EFB1299F-3214-6DCB-28A0-C060E054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9F1D0-2E04-6D44-B09F-2816782CB540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51391A8-1832-3C4A-47F1-B57E83CC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7DEA8B5A-6B20-42E2-D781-3516629E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EA533E-0BB0-4844-AB49-F1352AB5B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6494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086838C8-8EB2-0D61-F1BA-F688BACF6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6B2222-110C-CDFE-59DB-9CBD6FF7F6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92AD2-875B-904E-8C82-156FBA488C1E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84A09D-C603-35ED-5E87-1E2B749DE0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0D3956-9D56-D649-F490-8946DEDFC4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D711F8-22BF-6444-84A2-5CE1FBC988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0947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Droplets-SD-Content-R1d.png">
            <a:extLst>
              <a:ext uri="{FF2B5EF4-FFF2-40B4-BE49-F238E27FC236}">
                <a16:creationId xmlns:a16="http://schemas.microsoft.com/office/drawing/2014/main" xmlns="" id="{67890EA5-FD97-823F-5492-D1062815D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ED65D7FD-F677-2996-86B4-3B1B9298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1CBE4-87BA-D74F-9511-B26AC2A8A4F8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4531997-D949-5C08-476E-1529A382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D9B9C323-2B53-B6FE-2584-E175402B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8381EB-05C7-B548-B130-744ABAB9AD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9934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Droplets-SD-Content-R1d.png">
            <a:extLst>
              <a:ext uri="{FF2B5EF4-FFF2-40B4-BE49-F238E27FC236}">
                <a16:creationId xmlns:a16="http://schemas.microsoft.com/office/drawing/2014/main" xmlns="" id="{B46B3F94-FB1B-EC3A-1FE5-D1FAE4D6F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9BDA31C2-84F8-8A3D-1E7D-867F9E36EE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A9AA1-A284-1248-9ECB-0F6D17C277A3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xmlns="" id="{3377502F-6C3D-8C64-B4BD-F5228FF284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xmlns="" id="{0F702D95-FA32-787B-5480-D947B3E213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A61EEC-6E2F-7641-B05A-D7D94ABF4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54283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Droplets-SD-Content-R1d.png">
            <a:extLst>
              <a:ext uri="{FF2B5EF4-FFF2-40B4-BE49-F238E27FC236}">
                <a16:creationId xmlns:a16="http://schemas.microsoft.com/office/drawing/2014/main" xmlns="" id="{0AD9B959-A835-27A0-F393-DDD1D3DC0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xmlns="" id="{B79E99F6-14E8-D7D7-E9B1-175649A8DD4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0BC95-B6E8-C14F-816D-60A93CF2921E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xmlns="" id="{3DDABC30-0380-0DA7-CA39-6E102E506B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xmlns="" id="{164900A8-A7C0-B036-5F79-09FADC76432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52FB3B-AD68-2C44-AD8C-AF3AB1E37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11858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9C866F24-293F-EFF6-231F-A261FBF3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xmlns="" id="{1D1619AD-451B-7BB8-B28C-84739754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45079-B4A1-4A47-BF1A-76D607A0CB83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6A20657B-35BA-E190-F7EE-65767F96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xmlns="" id="{315D9F99-BE8F-D0DD-734A-393E682B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3827F0-8ABE-D04A-A9AC-BB830955ED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88227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Droplets-SD-Content-R1d.png">
            <a:extLst>
              <a:ext uri="{FF2B5EF4-FFF2-40B4-BE49-F238E27FC236}">
                <a16:creationId xmlns:a16="http://schemas.microsoft.com/office/drawing/2014/main" xmlns="" id="{457BA687-53F6-33F6-1C1D-4E0FA967D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xmlns="" id="{1A9FB625-7F6C-E3CF-1409-547D3B38C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52D73-83B2-4A4A-8B48-5F66B6FAC973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xmlns="" id="{A02D9EB2-6EF7-486F-6D2D-FF4A7E76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AB004518-C982-A4D1-BC7A-F45C32E7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F2008F7-E104-7140-995F-9BECE97FE3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820292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677F94FE-15A3-E8CC-8907-FE97072CF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069FBA-34DC-ADE7-C6DB-2AF984EC32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434C3-305F-F94C-B5F1-AA331AB38C1E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59857E9-127E-F893-8C09-73C4FD9E4B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5C679EA-4D77-9681-2ED7-0E431FFF5E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2D212F-DDA9-8F4A-8E21-CE604DC586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4487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roplets-SD-Content-R1d.png">
            <a:extLst>
              <a:ext uri="{FF2B5EF4-FFF2-40B4-BE49-F238E27FC236}">
                <a16:creationId xmlns:a16="http://schemas.microsoft.com/office/drawing/2014/main" xmlns="" id="{EE96A5E3-4E81-4253-D57F-2AC8011A0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56D1945A-245E-54E0-F02E-26078606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7EF0C-B356-5346-B738-2B426BCF46E0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9CD12AE0-AAAC-F171-665E-9B4B33AA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4EBCF245-8CDF-7808-E836-88276F38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94A4FBF-ED73-5347-81DC-B5720911E5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19188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Droplets-SD-Content-R1d.png">
            <a:extLst>
              <a:ext uri="{FF2B5EF4-FFF2-40B4-BE49-F238E27FC236}">
                <a16:creationId xmlns:a16="http://schemas.microsoft.com/office/drawing/2014/main" xmlns="" id="{0960D630-5DE5-BD60-8B68-D87A5BF59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6A57F0A0-5B73-7330-FC85-6BC9469E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7323-51F3-3E4B-9AF8-D77E3EE0D2D7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F42AA656-5A82-B0C0-FF76-D3B402A6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2AB5F38F-56EB-DE78-D3D3-887ED2EE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5544FD-0FBE-924A-B198-752AF5DDED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414423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EECD677C-A300-E86E-66DF-7EDECCE80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14DF482-F9F3-7EEE-057F-D626D67E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8E8EB-3A94-3C44-A220-87DB47F1E925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A04B05-F679-9822-DB86-1EC43880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D59C38D-12B0-57A1-795C-C723AC6F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52A283-126D-484E-9077-B0553EBBD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657808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F687698E-EF66-58A1-AF20-528F5ED52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4ADDA0-47E2-0BBB-F751-0D86C8AEAD4C}"/>
              </a:ext>
            </a:extLst>
          </p:cNvPr>
          <p:cNvSpPr txBox="1"/>
          <p:nvPr/>
        </p:nvSpPr>
        <p:spPr>
          <a:xfrm>
            <a:off x="738188" y="887413"/>
            <a:ext cx="546100" cy="585787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0"/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7B18E8-0C70-C895-BB2E-D10CC36F9390}"/>
              </a:ext>
            </a:extLst>
          </p:cNvPr>
          <p:cNvSpPr txBox="1"/>
          <p:nvPr/>
        </p:nvSpPr>
        <p:spPr>
          <a:xfrm>
            <a:off x="7850188" y="3119438"/>
            <a:ext cx="554037" cy="585787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defRPr/>
            </a:pPr>
            <a:r>
              <a:rPr lang="en-US" altLang="en-US" sz="800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xmlns="" id="{5CFC868C-2ED7-3394-61A5-F04F8BC619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A3025-26D7-084F-AAF7-E8025857C64F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7D5B96DC-BAA7-3FE4-DAFF-407BDD311C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55C6D0CB-6426-4367-9F4D-E3DA5678CE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E5C4B1-0234-2F42-B762-04E71EAB64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511908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B49217AF-661F-3FD8-60EF-7EC93C55C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27D7D17-6DB0-B586-CE03-280A556B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CA2F8-5792-4543-A0AA-7AE4F122FC7F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ACADF1A-96BE-D394-E243-2E6A672D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1C21C8C-EED8-265E-3A6F-69FF0129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5B52CA-239F-9B4A-8DBC-F24C61AB7E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19578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Droplets-SD-Content-R1d.png">
            <a:extLst>
              <a:ext uri="{FF2B5EF4-FFF2-40B4-BE49-F238E27FC236}">
                <a16:creationId xmlns:a16="http://schemas.microsoft.com/office/drawing/2014/main" xmlns="" id="{9BCB0D01-3AFB-D34F-FD4C-E26950BEF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5590FEB-4273-1524-EE66-57E71331764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EA73B-F788-7946-9672-FE1388558616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9859231-5297-D8B7-9F2D-E6C39881625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101C8C7-E879-4BCC-F40D-69228674608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1525D9A-9690-1B41-AD56-8668856636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6532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Droplets-SD-Content-R1d.png">
            <a:extLst>
              <a:ext uri="{FF2B5EF4-FFF2-40B4-BE49-F238E27FC236}">
                <a16:creationId xmlns:a16="http://schemas.microsoft.com/office/drawing/2014/main" xmlns="" id="{77378339-A0E3-7934-6B5F-3D40928C0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2BCE0F3-A37C-B697-6CB8-5568A319307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F9983-FA9A-F843-BFB7-ED936DC0B1C6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BA59AAF-8D02-4E27-F168-BC437E4252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D9E5322-D535-7F39-2204-1BD4793822F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CD6BDD-8DC4-C849-B882-091D10F433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6166945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A2C42756-1EFD-57D2-5699-36C2F68B2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408763-1CD6-5241-67C0-CEACC4B089A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3C748-9969-0F47-94D2-4E7CC342CF61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07D6779-4B48-2669-ED8E-AC9C3ABD67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2C78DF-6B13-D093-5AAD-6A027258D5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81398E-3AB4-1E4B-9F44-1D75A15127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07155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Droplets-SD-Content-R1d.png">
            <a:extLst>
              <a:ext uri="{FF2B5EF4-FFF2-40B4-BE49-F238E27FC236}">
                <a16:creationId xmlns:a16="http://schemas.microsoft.com/office/drawing/2014/main" xmlns="" id="{684477DA-93FF-CAF6-93BA-E22BA7A4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11A43F-3C05-B55D-72EF-D7E7B7391E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2CD2D-CF14-8F47-B8F5-CC650A53235F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406A21-BAF8-F708-383B-EC1C57DD00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67C13C-39DC-4750-C1A1-4465A69418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364D74-715C-4740-BBB3-744CF9341D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89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xmlns="" id="{69A7AD14-E758-87DA-37B6-9B228E543891}"/>
              </a:ext>
            </a:extLst>
          </p:cNvPr>
          <p:cNvGrpSpPr>
            <a:grpSpLocks/>
          </p:cNvGrpSpPr>
          <p:nvPr/>
        </p:nvGrpSpPr>
        <p:grpSpPr bwMode="auto">
          <a:xfrm>
            <a:off x="153988" y="-1588"/>
            <a:ext cx="8994775" cy="6743701"/>
            <a:chOff x="97" y="-1"/>
            <a:chExt cx="5666" cy="4248"/>
          </a:xfrm>
        </p:grpSpPr>
        <p:sp>
          <p:nvSpPr>
            <p:cNvPr id="1029" name="Rectangle 3">
              <a:extLst>
                <a:ext uri="{FF2B5EF4-FFF2-40B4-BE49-F238E27FC236}">
                  <a16:creationId xmlns:a16="http://schemas.microsoft.com/office/drawing/2014/main" xmlns="" id="{2A56400A-2B04-E17E-1963-D8BF8EB665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" y="91"/>
              <a:ext cx="5579" cy="36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C214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ea typeface="+mn-ea"/>
              </a:endParaRPr>
            </a:p>
          </p:txBody>
        </p:sp>
        <p:sp>
          <p:nvSpPr>
            <p:cNvPr id="1030" name="Rectangle 4">
              <a:extLst>
                <a:ext uri="{FF2B5EF4-FFF2-40B4-BE49-F238E27FC236}">
                  <a16:creationId xmlns:a16="http://schemas.microsoft.com/office/drawing/2014/main" xmlns="" id="{65C9FE1B-FA83-FB26-BB30-EEAB52B75B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77" y="91"/>
              <a:ext cx="399" cy="394"/>
            </a:xfrm>
            <a:prstGeom prst="rect">
              <a:avLst/>
            </a:prstGeom>
            <a:solidFill>
              <a:srgbClr val="00308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ea typeface="+mn-ea"/>
              </a:endParaRPr>
            </a:p>
          </p:txBody>
        </p:sp>
        <p:grpSp>
          <p:nvGrpSpPr>
            <p:cNvPr id="1031" name="Group 5">
              <a:extLst>
                <a:ext uri="{FF2B5EF4-FFF2-40B4-BE49-F238E27FC236}">
                  <a16:creationId xmlns:a16="http://schemas.microsoft.com/office/drawing/2014/main" xmlns="" id="{3A4459FE-E1F1-EC69-673C-BD311578B61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79" y="-1"/>
              <a:ext cx="484" cy="485"/>
              <a:chOff x="5279" y="-3"/>
              <a:chExt cx="484" cy="485"/>
            </a:xfrm>
          </p:grpSpPr>
          <p:sp>
            <p:nvSpPr>
              <p:cNvPr id="1036" name="Rectangle 6">
                <a:extLst>
                  <a:ext uri="{FF2B5EF4-FFF2-40B4-BE49-F238E27FC236}">
                    <a16:creationId xmlns:a16="http://schemas.microsoft.com/office/drawing/2014/main" xmlns="" id="{0A3F44F7-A522-AC05-DD7D-4C45F0E694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79" y="-3"/>
                <a:ext cx="484" cy="4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ea typeface="+mn-ea"/>
                </a:endParaRPr>
              </a:p>
            </p:txBody>
          </p:sp>
          <p:sp>
            <p:nvSpPr>
              <p:cNvPr id="1037" name="AutoShape 7">
                <a:extLst>
                  <a:ext uri="{FF2B5EF4-FFF2-40B4-BE49-F238E27FC236}">
                    <a16:creationId xmlns:a16="http://schemas.microsoft.com/office/drawing/2014/main" xmlns="" id="{777DC73A-3C5B-ED75-6231-9A08B8AA0B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41" y="0"/>
                <a:ext cx="419" cy="419"/>
              </a:xfrm>
              <a:prstGeom prst="rtTriangle">
                <a:avLst/>
              </a:prstGeom>
              <a:solidFill>
                <a:srgbClr val="BC2149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>
                  <a:ea typeface="+mn-ea"/>
                </a:endParaRPr>
              </a:p>
            </p:txBody>
          </p:sp>
        </p:grpSp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xmlns="" id="{560D5C89-7A65-F15A-4D1A-16AC2CC1676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7" y="3779"/>
              <a:ext cx="5581" cy="468"/>
            </a:xfrm>
            <a:prstGeom prst="rect">
              <a:avLst/>
            </a:prstGeom>
            <a:solidFill>
              <a:srgbClr val="BC214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CF0707"/>
                </a:solidFill>
                <a:ea typeface="+mn-ea"/>
              </a:endParaRPr>
            </a:p>
          </p:txBody>
        </p:sp>
        <p:pic>
          <p:nvPicPr>
            <p:cNvPr id="1033" name="Picture 9" descr="Napier_logo">
              <a:extLst>
                <a:ext uri="{FF2B5EF4-FFF2-40B4-BE49-F238E27FC236}">
                  <a16:creationId xmlns:a16="http://schemas.microsoft.com/office/drawing/2014/main" xmlns="" id="{B02B55F5-1AF9-5308-FF65-E9285EBE177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lum bright="100000" contrast="4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7" y="3852"/>
              <a:ext cx="203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" name="Line 10">
              <a:extLst>
                <a:ext uri="{FF2B5EF4-FFF2-40B4-BE49-F238E27FC236}">
                  <a16:creationId xmlns:a16="http://schemas.microsoft.com/office/drawing/2014/main" xmlns="" id="{BCDB3435-2F0A-0583-6773-003C80521B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277" y="91"/>
              <a:ext cx="0" cy="394"/>
            </a:xfrm>
            <a:prstGeom prst="line">
              <a:avLst/>
            </a:prstGeom>
            <a:noFill/>
            <a:ln w="9525">
              <a:solidFill>
                <a:srgbClr val="BC214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Line 11">
              <a:extLst>
                <a:ext uri="{FF2B5EF4-FFF2-40B4-BE49-F238E27FC236}">
                  <a16:creationId xmlns:a16="http://schemas.microsoft.com/office/drawing/2014/main" xmlns="" id="{6AB51B2B-B554-D3A3-5A47-D0D6FF63DD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277" y="487"/>
              <a:ext cx="397" cy="0"/>
            </a:xfrm>
            <a:prstGeom prst="line">
              <a:avLst/>
            </a:prstGeom>
            <a:noFill/>
            <a:ln w="9525">
              <a:solidFill>
                <a:srgbClr val="BC214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Rectangle 12">
            <a:extLst>
              <a:ext uri="{FF2B5EF4-FFF2-40B4-BE49-F238E27FC236}">
                <a16:creationId xmlns:a16="http://schemas.microsoft.com/office/drawing/2014/main" xmlns="" id="{37726A8A-BADF-224A-6747-44CE281C1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77838"/>
            <a:ext cx="82296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13">
            <a:extLst>
              <a:ext uri="{FF2B5EF4-FFF2-40B4-BE49-F238E27FC236}">
                <a16:creationId xmlns:a16="http://schemas.microsoft.com/office/drawing/2014/main" xmlns="" id="{87E74270-04D7-12A2-3C21-DF7F70E71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30325"/>
            <a:ext cx="8229600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B8B8B8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DROBO-FS\QuickDrops\JB\PPTX NG\Droplets\LightingOverlay.png">
            <a:extLst>
              <a:ext uri="{FF2B5EF4-FFF2-40B4-BE49-F238E27FC236}">
                <a16:creationId xmlns:a16="http://schemas.microsoft.com/office/drawing/2014/main" xmlns="" id="{7E91300B-7C86-F465-F907-F0A74B897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62896D2-895B-7023-7A3B-956DBBF32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9125"/>
            <a:ext cx="7772400" cy="1595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42D6D5A-BD1B-2608-1C7A-71458C26A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366963"/>
            <a:ext cx="7772400" cy="3424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044C54-C97C-EEB4-BD3A-E1D972AB4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59450" y="5883275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64F7C89-933E-4342-BBFA-5C3813322DE5}" type="datetimeFigureOut">
              <a:rPr lang="en-US" altLang="en-US"/>
              <a:pPr>
                <a:defRPr/>
              </a:pPr>
              <a:t>8/14/2025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74A85F-EB6A-BDEC-C2C5-6D38B5642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5883275"/>
            <a:ext cx="500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026823-DA57-7648-597D-9DD3BE3C6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113" y="5883275"/>
            <a:ext cx="5730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15BEF250-659E-2A49-8D79-D3840D72A0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  <p:sldLayoutId id="2147484253" r:id="rId12"/>
    <p:sldLayoutId id="2147484254" r:id="rId13"/>
    <p:sldLayoutId id="2147484255" r:id="rId14"/>
    <p:sldLayoutId id="2147484256" r:id="rId15"/>
    <p:sldLayoutId id="2147484257" r:id="rId16"/>
    <p:sldLayoutId id="2147484258" r:id="rId17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charset="0"/>
          <a:ea typeface="ＭＳ Ｐゴシック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 kern="1200" cap="all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800" kern="1200" cap="all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600" kern="1200" cap="all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xmlns="" id="{98822BAE-4EE5-8CC1-1E99-9B93716D09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196975"/>
            <a:ext cx="7772400" cy="1503363"/>
          </a:xfrm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GB" altLang="en-US" sz="3900" cap="none" dirty="0">
                <a:ea typeface="ＭＳ Ｐゴシック" panose="020B0600070205080204" pitchFamily="34" charset="-128"/>
              </a:rPr>
              <a:t/>
            </a:r>
            <a:br>
              <a:rPr lang="en-GB" altLang="en-US" sz="3900" cap="none" dirty="0">
                <a:ea typeface="ＭＳ Ｐゴシック" panose="020B0600070205080204" pitchFamily="34" charset="-128"/>
              </a:rPr>
            </a:br>
            <a:r>
              <a:rPr lang="en-GB" altLang="en-US" sz="3900" cap="none" dirty="0">
                <a:ea typeface="ＭＳ Ｐゴシック" panose="020B0600070205080204" pitchFamily="34" charset="-128"/>
              </a:rPr>
              <a:t/>
            </a:r>
            <a:br>
              <a:rPr lang="en-GB" altLang="en-US" sz="3900" cap="none" dirty="0">
                <a:ea typeface="ＭＳ Ｐゴシック" panose="020B0600070205080204" pitchFamily="34" charset="-128"/>
              </a:rPr>
            </a:br>
            <a:r>
              <a:rPr lang="en-GB" altLang="en-US" sz="3900" cap="none" dirty="0">
                <a:ea typeface="ＭＳ Ｐゴシック" panose="020B0600070205080204" pitchFamily="34" charset="-128"/>
              </a:rPr>
              <a:t>BSC </a:t>
            </a:r>
            <a:br>
              <a:rPr lang="en-GB" altLang="en-US" sz="3900" cap="none" dirty="0">
                <a:ea typeface="ＭＳ Ｐゴシック" panose="020B0600070205080204" pitchFamily="34" charset="-128"/>
              </a:rPr>
            </a:br>
            <a:r>
              <a:rPr lang="en-GB" altLang="en-US" sz="3900" cap="none" dirty="0">
                <a:ea typeface="ＭＳ Ｐゴシック" panose="020B0600070205080204" pitchFamily="34" charset="-128"/>
              </a:rPr>
              <a:t>COMPUTING Project DISSERTATION</a:t>
            </a:r>
            <a:r>
              <a:rPr lang="en-GB" altLang="en-US" sz="3200" cap="none" dirty="0">
                <a:ea typeface="ＭＳ Ｐゴシック" panose="020B0600070205080204" pitchFamily="34" charset="-128"/>
              </a:rPr>
              <a:t/>
            </a:r>
            <a:br>
              <a:rPr lang="en-GB" altLang="en-US" sz="3200" cap="none" dirty="0">
                <a:ea typeface="ＭＳ Ｐゴシック" panose="020B0600070205080204" pitchFamily="34" charset="-128"/>
              </a:rPr>
            </a:br>
            <a:r>
              <a:rPr lang="en-GB" altLang="en-US" sz="3200" cap="none" dirty="0">
                <a:ea typeface="ＭＳ Ｐゴシック" panose="020B0600070205080204" pitchFamily="34" charset="-128"/>
              </a:rPr>
              <a:t>CSY4022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EA6C8692-63BB-6A7D-65B7-731F99FD22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705600" cy="3200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GB" altLang="en-US" sz="5400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 dirty="0">
                <a:ea typeface="+mn-ea"/>
              </a:rPr>
              <a:t>Amir Minai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dirty="0">
                <a:ea typeface="+mn-ea"/>
              </a:rPr>
              <a:t>Module Leader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3DFF1247-56D6-1039-AA10-7F54F7B71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26035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j-ea"/>
              </a:rPr>
              <a:t>Module REQUIREMENTS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xmlns="" id="{1CE0AFAB-592D-5854-AB2B-7A90401C942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0" y="1484313"/>
            <a:ext cx="7697788" cy="4456112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1.</a:t>
            </a:r>
            <a:r>
              <a:rPr lang="en-GB" altLang="en-US" sz="2400" cap="none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      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MANAGE A SUBSTANTIAL </a:t>
            </a:r>
            <a:r>
              <a:rPr lang="en-GB" altLang="en-US" sz="2400" u="sng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INDIVIDUAL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 PROJECT WHICH COULD INCLUDE; RESEARCH, PLANNING, DESIGN, IMPLEMENTATION, TESTING, AND DOCUMENTATION.</a:t>
            </a:r>
          </a:p>
          <a:p>
            <a:pPr eaLnBrk="1" hangingPunct="1">
              <a:lnSpc>
                <a:spcPct val="80000"/>
              </a:lnSpc>
            </a:pPr>
            <a:endParaRPr lang="en-GB" altLang="en-US" sz="2400" cap="none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cap="none">
                <a:solidFill>
                  <a:srgbClr val="000000"/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2.</a:t>
            </a:r>
            <a:r>
              <a:rPr lang="en-GB" altLang="en-US" sz="2400" cap="none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      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CONSTRUCT A FOCUSSED </a:t>
            </a:r>
            <a:r>
              <a:rPr lang="en-GB" altLang="en-US" sz="2400" u="sng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PROBLEM STATEMENT 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AND CONDUCT A SUITABLE </a:t>
            </a:r>
            <a:r>
              <a:rPr lang="en-GB" altLang="en-US" sz="2400" cap="none">
                <a:solidFill>
                  <a:srgbClr val="000000"/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INVESTIGATION, INCLUDING DETAILED LITERATURE REVIEW, IN THE PROBLEM CONTEXT </a:t>
            </a:r>
          </a:p>
          <a:p>
            <a:pPr eaLnBrk="1" hangingPunct="1">
              <a:lnSpc>
                <a:spcPct val="80000"/>
              </a:lnSpc>
            </a:pPr>
            <a:endParaRPr lang="en-GB" altLang="en-US" sz="2400" cap="none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3.</a:t>
            </a:r>
            <a:r>
              <a:rPr lang="en-GB" altLang="en-US" sz="2400" cap="none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      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DEMONSTRATE PROFESSIONAL </a:t>
            </a:r>
            <a:r>
              <a:rPr lang="en-GB" altLang="en-US" sz="2400" u="sng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COMPETENCE</a:t>
            </a:r>
            <a:r>
              <a:rPr lang="en-GB" altLang="en-US" sz="24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 BY APPLYING APPROPRIATE THEORY AND PRACTICE TO THE ANALYSIS, DESIGN, IMPLEMENTATION AND EVALUATION OF A NON-TRIVIAL SET OF DELIVERABLES.</a:t>
            </a:r>
          </a:p>
          <a:p>
            <a:pPr eaLnBrk="1" hangingPunct="1">
              <a:lnSpc>
                <a:spcPct val="80000"/>
              </a:lnSpc>
            </a:pPr>
            <a:endParaRPr lang="en-GB" altLang="en-US" sz="2400" cap="none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CC5ACD38-FE28-648A-DB57-3A7B694AA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>
                <a:ea typeface="+mj-ea"/>
              </a:rPr>
              <a:t>Module Learning Outcomes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xmlns="" id="{A447F8C8-1A6E-6E4E-C56C-15FC0208441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7950" y="1557338"/>
            <a:ext cx="8424863" cy="437038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GB" altLang="en-US" sz="19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4.   </a:t>
            </a:r>
            <a:r>
              <a:rPr lang="en-GB" altLang="en-US" sz="22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SHOW A CAPACITY FOR SELF-APPRAISAL BY ANALYSING THE STRENGTHS AND WEAKNESSES OF THE PROJECT PROCESS AND OUTCOMES WITH REFERENCE TO THE INITIAL OBJECTIVES AND TO THE WORK OF OTHERS.</a:t>
            </a:r>
          </a:p>
          <a:p>
            <a:pPr eaLnBrk="1" hangingPunct="1"/>
            <a:endParaRPr lang="en-GB" altLang="en-US" sz="2200" cap="none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GB" altLang="en-US" sz="22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5.  PROVIDE EVIDENCE OF THE FOREGOING IN THE FORM OF A       </a:t>
            </a:r>
            <a:r>
              <a:rPr lang="en-GB" altLang="en-US" sz="2200" u="sng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REPORT</a:t>
            </a:r>
          </a:p>
          <a:p>
            <a:pPr eaLnBrk="1" hangingPunct="1"/>
            <a:endParaRPr lang="en-GB" altLang="en-US" sz="2200" cap="none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GB" altLang="en-US" sz="22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6.  DEFEND THE WORK ORALLY AT A </a:t>
            </a:r>
            <a:r>
              <a:rPr lang="en-GB" altLang="en-US" sz="2200" u="sng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VIVA VOCE </a:t>
            </a:r>
            <a:r>
              <a:rPr lang="en-GB" altLang="en-US" sz="2200" cap="none">
                <a:ea typeface="ＭＳ Ｐゴシック" panose="020B0600070205080204" pitchFamily="34" charset="-128"/>
                <a:cs typeface="Times New Roman" panose="02020603050405020304" pitchFamily="18" charset="0"/>
              </a:rPr>
              <a:t>EXAMINATION.</a:t>
            </a:r>
            <a:endParaRPr lang="en-GB" altLang="en-US" sz="2200" cap="none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11CA02A5-2CFE-D88D-5ACB-EE0B635E6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263" y="260350"/>
            <a:ext cx="7772400" cy="13684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j-ea"/>
              </a:rPr>
              <a:t>Why a Project?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826E037D-7E58-74DC-3C64-33C2AC90E30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03263" y="1484313"/>
            <a:ext cx="7772400" cy="4824412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The project provides an opportunity to demonstrate computing or information systems related </a:t>
            </a:r>
            <a:r>
              <a:rPr lang="en-GB" altLang="en-US" sz="1800" u="sng" dirty="0">
                <a:ea typeface="+mn-ea"/>
              </a:rPr>
              <a:t>knowledge</a:t>
            </a:r>
            <a:r>
              <a:rPr lang="en-GB" altLang="en-US" sz="1800" dirty="0">
                <a:ea typeface="+mn-ea"/>
              </a:rPr>
              <a:t> and </a:t>
            </a:r>
            <a:r>
              <a:rPr lang="en-GB" altLang="en-US" sz="1800" u="sng" dirty="0">
                <a:ea typeface="+mn-ea"/>
              </a:rPr>
              <a:t>practical skills</a:t>
            </a:r>
            <a:r>
              <a:rPr lang="en-GB" altLang="en-US" sz="1800" dirty="0">
                <a:ea typeface="+mn-ea"/>
              </a:rPr>
              <a:t>. 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It is expected to be a </a:t>
            </a:r>
            <a:r>
              <a:rPr lang="en-GB" altLang="en-US" sz="1800" u="sng" dirty="0">
                <a:ea typeface="+mn-ea"/>
              </a:rPr>
              <a:t>problem-solving</a:t>
            </a:r>
            <a:r>
              <a:rPr lang="en-GB" altLang="en-US" sz="1800" dirty="0">
                <a:ea typeface="+mn-ea"/>
              </a:rPr>
              <a:t> piece of work involving the design of an appropriate </a:t>
            </a:r>
            <a:r>
              <a:rPr lang="en-GB" altLang="en-US" sz="1800" u="sng" dirty="0">
                <a:ea typeface="+mn-ea"/>
              </a:rPr>
              <a:t>solution</a:t>
            </a:r>
            <a:r>
              <a:rPr lang="en-GB" altLang="en-US" sz="1800" dirty="0">
                <a:ea typeface="+mn-ea"/>
              </a:rPr>
              <a:t>. 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It is desirable that it should have an identifiable client other than the student. 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A project will include some or all aspects of a project life-cycle and will apply appropriate principles, skills, tools and techniques developed throughout the programme of study and specially acquired during the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xmlns="" id="{B55D719C-F8BE-8CA3-59B4-0BFE5AA0D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j-ea"/>
              </a:rPr>
              <a:t>Computing Project Types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504C6B36-ACF9-A1A4-F262-018A8182580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5800" y="2366963"/>
            <a:ext cx="7772400" cy="3424237"/>
          </a:xfrm>
        </p:spPr>
        <p:txBody>
          <a:bodyPr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Research leading to Development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/>
              <a:t>Thorough investigation of a particular area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Leading to  the Design for the development of a computing System.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to include;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Design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Development 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Testing &amp; Critical evaluation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Conclusive Recommendations</a:t>
            </a: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endParaRPr lang="en-GB" altLang="en-US" sz="1800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buFontTx/>
              <a:buNone/>
              <a:defRPr/>
            </a:pPr>
            <a:endParaRPr lang="en-GB" altLang="en-US" sz="1800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GB" altLang="en-US" sz="1800" dirty="0"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xmlns="" id="{16D2EC6D-C13D-19D7-D4C8-A87E0ADD9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29600" cy="6953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>
                <a:ea typeface="+mj-ea"/>
              </a:rPr>
              <a:t>Computing Project Types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xmlns="" id="{1EDAA684-2A1B-E77A-17EA-AFBB43ECCF6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468313" y="1916113"/>
            <a:ext cx="8229600" cy="43703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Research Based </a:t>
            </a:r>
            <a:r>
              <a:rPr lang="en-GB" altLang="en-US" sz="1400" dirty="0">
                <a:ea typeface="+mn-ea"/>
              </a:rPr>
              <a:t>(Business Computing students only)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Thorough investigation of a particular area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Improving the understanding of that area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Identifying the strengths and weaknesses within the field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Discuss how the field has evolved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Results in a contribution to the development of some aspects of the field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endParaRPr lang="en-GB" altLang="en-US" sz="1800" dirty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GB" altLang="en-US" sz="1800" dirty="0">
                <a:ea typeface="+mn-ea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413A139A-E8C4-1686-EA77-231B279FE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j-ea"/>
              </a:rPr>
              <a:t>Computing Project Types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7FB63808-E863-A179-6040-C7020054370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5800" y="2366963"/>
            <a:ext cx="7772400" cy="34242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The project TOPIC </a:t>
            </a:r>
            <a:r>
              <a:rPr lang="en-GB" altLang="en-US" u="sng" dirty="0">
                <a:ea typeface="+mn-ea"/>
              </a:rPr>
              <a:t>should</a:t>
            </a:r>
            <a:r>
              <a:rPr lang="en-GB" altLang="en-US" dirty="0">
                <a:ea typeface="+mn-ea"/>
              </a:rPr>
              <a:t> relate, reflect, and be relevant to your chosen </a:t>
            </a:r>
            <a:r>
              <a:rPr lang="en-GB" altLang="en-US" b="1" u="sng" dirty="0">
                <a:ea typeface="+mn-ea"/>
              </a:rPr>
              <a:t>Course subject area</a:t>
            </a:r>
            <a:r>
              <a:rPr lang="en-GB" altLang="en-US" dirty="0">
                <a:ea typeface="+mn-ea"/>
              </a:rPr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xmlns="" id="{6F6D1FF8-17A8-9BB4-EB07-9BE8DCCA1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>
                <a:ea typeface="+mj-ea"/>
              </a:rPr>
              <a:t>What is NOT an Honours Project Topic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xmlns="" id="{E359369F-B65B-FCF9-2076-6B34CCD8320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0" y="2366963"/>
            <a:ext cx="7772400" cy="3424237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I’M GOING TO BUILD A WEB SITE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I’d LIKE TO DEVELOP A MOBILE APP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 WANT TO MAKE A COMPUTER GAME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I’M GOING TO BUILD A NETWORK 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 WANT TO DO SOMETHING THAT WILL HELP ME GET A JOB…!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 AM GOING TO MEET A CLIENT’S SPECIFIC REQUIREMENTS…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 WANT TO CREATE A BUSINESS DATABASE …….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1900" cap="none" dirty="0">
                <a:ea typeface="ＭＳ Ｐゴシック" panose="020B0600070205080204" pitchFamily="34" charset="-128"/>
              </a:rPr>
              <a:t>I AM GOING TO LEARN TO USE AN APPLICATION TOOL ….</a:t>
            </a:r>
          </a:p>
          <a:p>
            <a:pPr eaLnBrk="1" hangingPunct="1">
              <a:lnSpc>
                <a:spcPct val="70000"/>
              </a:lnSpc>
            </a:pPr>
            <a:r>
              <a:rPr lang="en-GB" altLang="en-US" sz="2500" cap="none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THESE ARE ALL REALLY GOOD PLACES TO START!!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xmlns="" id="{A5F66C2E-DF82-4F43-AC79-3589687C2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>
                <a:ea typeface="+mj-ea"/>
              </a:rPr>
              <a:t>Choosing your Project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xmlns="" id="{DA0A1650-E8FD-9118-6CD6-362D5A21F71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5800" y="2366963"/>
            <a:ext cx="7772400" cy="3424237"/>
          </a:xfrm>
        </p:spPr>
        <p:txBody>
          <a:bodyPr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2400">
                <a:ea typeface="+mn-ea"/>
              </a:rPr>
              <a:t>This the most difficult, time consuming, and important stage of all.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2400">
                <a:ea typeface="+mn-ea"/>
              </a:rPr>
              <a:t>You choose a Project that YOU must undertake over the whole of an academic year.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2400">
                <a:ea typeface="+mn-ea"/>
              </a:rPr>
              <a:t>When choosing, keep the following principle in mind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2000">
                <a:ea typeface="+mn-ea"/>
              </a:rPr>
              <a:t>You must be capable of doing the proposed project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2000">
                <a:ea typeface="+mn-ea"/>
              </a:rPr>
              <a:t>You must be interested, motivated, and enjoy the work 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2000">
                <a:ea typeface="+mn-ea"/>
              </a:rPr>
              <a:t>You must consider your personal and career aspirations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2000">
                <a:ea typeface="+mn-ea"/>
              </a:rPr>
              <a:t>You must be able to show a degree of personal development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sz="2000">
                <a:ea typeface="+mn-ea"/>
              </a:rPr>
              <a:t>Your must undertake a project with clear and serious outcome(s)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altLang="en-US" sz="200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endParaRPr lang="en-GB" altLang="en-US" sz="2000"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9FC79608-2E6C-1A92-90CC-5DD87B01E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ea typeface="+mj-ea"/>
              </a:rPr>
              <a:t>Your responsibilities -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xmlns="" id="{FF5EAC4B-8AAB-D025-B5CA-ED5AA0D12C8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11188" y="1916113"/>
            <a:ext cx="7772400" cy="3424237"/>
          </a:xfrm>
        </p:spPr>
        <p:txBody>
          <a:bodyPr>
            <a:normAutofit fontScale="700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GB" altLang="en-US" sz="2400" dirty="0">
              <a:ea typeface="+mn-ea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GB" altLang="en-US" sz="2400" dirty="0">
              <a:ea typeface="+mn-ea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b="1" dirty="0"/>
              <a:t>Submit</a:t>
            </a:r>
            <a:r>
              <a:rPr lang="en-GB" altLang="en-US" sz="3200" dirty="0"/>
              <a:t> a Proposal; to get feedback from your allocated supervisor</a:t>
            </a:r>
            <a:endParaRPr lang="en-GB" altLang="en-US" sz="32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b="1" dirty="0"/>
              <a:t>Submit  a progress Report </a:t>
            </a:r>
            <a:r>
              <a:rPr lang="en-GB" altLang="en-US" sz="3200" dirty="0"/>
              <a:t>to get mid-year performance feedback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3200" b="1" dirty="0">
                <a:ea typeface="+mn-ea"/>
              </a:rPr>
              <a:t>Submit</a:t>
            </a:r>
            <a:r>
              <a:rPr lang="en-GB" altLang="en-US" sz="3200" dirty="0">
                <a:ea typeface="+mn-ea"/>
              </a:rPr>
              <a:t> the Project report (Dissertation) by the due date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3200" dirty="0">
                <a:ea typeface="+mn-ea"/>
              </a:rPr>
              <a:t>Prepare for and attend the viva voce </a:t>
            </a:r>
            <a:r>
              <a:rPr lang="en-GB" altLang="en-US" sz="3200" u="sng" dirty="0">
                <a:ea typeface="+mn-ea"/>
              </a:rPr>
              <a:t>examination *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GB" altLang="en-US" sz="3200" dirty="0">
                <a:ea typeface="+mn-ea"/>
              </a:rPr>
              <a:t>*</a:t>
            </a:r>
            <a:r>
              <a:rPr lang="en-GB" altLang="en-US" sz="3200" dirty="0" err="1">
                <a:ea typeface="+mn-ea"/>
              </a:rPr>
              <a:t>tbc</a:t>
            </a:r>
            <a:endParaRPr lang="en-GB" altLang="en-US" sz="3200" dirty="0"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411145F0-1417-4176-5734-51DF04A41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>
                <a:ea typeface="+mj-ea"/>
              </a:rPr>
              <a:t>Resources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227C379B-9833-A901-CF6B-772394A93B4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23850" y="1557338"/>
            <a:ext cx="8229600" cy="4370387"/>
          </a:xfrm>
        </p:spPr>
        <p:txBody>
          <a:bodyPr/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CSY4022 material on Nile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Read the Project/Dissertation Handbook,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sz="1800" dirty="0">
                <a:ea typeface="+mn-ea"/>
              </a:rPr>
              <a:t>It tells you precisely what YOU have to do, how, when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Plus Read other supporting documents provided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dirty="0">
                <a:ea typeface="+mn-ea"/>
              </a:rPr>
              <a:t>Note: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sz="1800" dirty="0" smtClean="0">
                <a:ea typeface="+mn-ea"/>
              </a:rPr>
              <a:t>you should keep your </a:t>
            </a:r>
            <a:r>
              <a:rPr lang="en-GB" altLang="en-US" sz="1800" dirty="0">
                <a:ea typeface="+mn-ea"/>
              </a:rPr>
              <a:t>supervisor </a:t>
            </a:r>
            <a:r>
              <a:rPr lang="en-GB" altLang="en-US" sz="1800" dirty="0" smtClean="0">
                <a:ea typeface="+mn-ea"/>
              </a:rPr>
              <a:t>up to date with your project progress and keep to the pre-arranged </a:t>
            </a:r>
            <a:r>
              <a:rPr lang="en-GB" altLang="en-US" sz="1800" dirty="0">
                <a:ea typeface="+mn-ea"/>
              </a:rPr>
              <a:t>meetings. Typically, up to 4 supervision meetings.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GB" altLang="en-US" dirty="0"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E20F0383-589D-0E08-E386-6C72A050A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>
                <a:ea typeface="+mj-ea"/>
              </a:rPr>
              <a:t>What to do next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9428A54-66A3-623D-46B1-FFB1487F11E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0" y="2366963"/>
            <a:ext cx="7772400" cy="34242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 cap="none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 cap="none" dirty="0">
                <a:ea typeface="ＭＳ Ｐゴシック" panose="020B0600070205080204" pitchFamily="34" charset="-128"/>
              </a:rPr>
              <a:t>IF YOU HAVEN’T DONE SO,</a:t>
            </a:r>
          </a:p>
          <a:p>
            <a:pPr lvl="1" eaLnBrk="1" hangingPunct="1"/>
            <a:r>
              <a:rPr lang="en-GB" altLang="en-US" sz="1800" cap="none" dirty="0">
                <a:ea typeface="ＭＳ Ｐゴシック" panose="020B0600070205080204" pitchFamily="34" charset="-128"/>
              </a:rPr>
              <a:t>IDENTIFY THE PROJECT AREA:</a:t>
            </a:r>
          </a:p>
          <a:p>
            <a:pPr lvl="1" algn="ctr" eaLnBrk="1" hangingPunct="1">
              <a:buFontTx/>
              <a:buNone/>
            </a:pPr>
            <a:r>
              <a:rPr lang="en-GB" altLang="en-US" sz="1800" b="1" cap="none" dirty="0">
                <a:ea typeface="ＭＳ Ｐゴシック" panose="020B0600070205080204" pitchFamily="34" charset="-128"/>
              </a:rPr>
              <a:t>YOUR RESEARCH QUESTION</a:t>
            </a:r>
          </a:p>
          <a:p>
            <a:pPr lvl="1" eaLnBrk="1" hangingPunct="1"/>
            <a:r>
              <a:rPr lang="en-GB" altLang="en-US" cap="none" dirty="0">
                <a:ea typeface="ＭＳ Ｐゴシック" panose="020B0600070205080204" pitchFamily="34" charset="-128"/>
              </a:rPr>
              <a:t>START YOUR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_white_temp">
  <a:themeElements>
    <a:clrScheme name="nu_white_tem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u_white_temp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u_white_tem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_white_tem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_white_tem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_white_tem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_white_tem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_white_tem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_white_tem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</TotalTime>
  <Words>514</Words>
  <Application>Microsoft Macintosh PowerPoint</Application>
  <PresentationFormat>On-screen Show (4:3)</PresentationFormat>
  <Paragraphs>87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nu_white_temp</vt:lpstr>
      <vt:lpstr>Droplet</vt:lpstr>
      <vt:lpstr>  BSC  COMPUTING Project DISSERTATION CSY4022</vt:lpstr>
      <vt:lpstr>Module REQUIREMENTS</vt:lpstr>
      <vt:lpstr>Module Learning Outcomes</vt:lpstr>
      <vt:lpstr>Why a Project?</vt:lpstr>
      <vt:lpstr>Computing Project Types</vt:lpstr>
      <vt:lpstr>Computing Project Types</vt:lpstr>
      <vt:lpstr>Computing Project Types</vt:lpstr>
      <vt:lpstr>What is NOT an Honours Project Topic</vt:lpstr>
      <vt:lpstr>Choosing your Project</vt:lpstr>
      <vt:lpstr>Your responsibilities -</vt:lpstr>
      <vt:lpstr>Resources</vt:lpstr>
      <vt:lpstr>What to do next</vt:lpstr>
    </vt:vector>
  </TitlesOfParts>
  <Company>Napier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Honours Project Introduction co42019 &amp; co42021</dc:title>
  <dc:creator>jmk</dc:creator>
  <cp:lastModifiedBy>Amir</cp:lastModifiedBy>
  <cp:revision>47</cp:revision>
  <dcterms:created xsi:type="dcterms:W3CDTF">2007-02-05T11:24:23Z</dcterms:created>
  <dcterms:modified xsi:type="dcterms:W3CDTF">2025-08-14T13:43:13Z</dcterms:modified>
</cp:coreProperties>
</file>