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Playfair Display" charset="0"/>
      <p:regular r:id="rId11"/>
      <p:bold r:id="rId12"/>
      <p:italic r:id="rId13"/>
      <p:boldItalic r:id="rId14"/>
    </p:embeddedFont>
    <p:embeddedFont>
      <p:font typeface="Montserrat" charset="0"/>
      <p:regular r:id="rId15"/>
      <p:bold r:id="rId16"/>
      <p:italic r:id="rId17"/>
      <p:boldItalic r:id="rId18"/>
    </p:embeddedFont>
    <p:embeddedFont>
      <p:font typeface="Oswald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5266"/>
    <p:restoredTop sz="94674"/>
  </p:normalViewPr>
  <p:slideViewPr>
    <p:cSldViewPr snapToGrid="0">
      <p:cViewPr varScale="1">
        <p:scale>
          <a:sx n="113" d="100"/>
          <a:sy n="113" d="100"/>
        </p:scale>
        <p:origin x="-894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19193335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7ff19f8b_3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287ff19f8b_3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87ff19f8b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287ff19f8b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7ff19f8b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287ff19f8b_3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7ff19f8b_3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287ff19f8b_3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87ff19f8b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287ff19f8b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5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00"/>
              <a:buFont typeface="Playfair Display"/>
              <a:buNone/>
              <a:defRPr sz="6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5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fair Display"/>
              <a:buNone/>
              <a:defRPr sz="4800" b="1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●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●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●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●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swald"/>
              <a:buNone/>
              <a:defRPr sz="24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●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●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●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layfair Display"/>
              <a:buChar char="○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Playfair Display"/>
              <a:buChar char="■"/>
              <a:defRPr sz="12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21"/>
          <p:cNvSpPr txBox="1">
            <a:spLocks noGrp="1"/>
          </p:cNvSpPr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Oswald"/>
              <a:buNone/>
              <a:defRPr sz="42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Playfair Display"/>
              <a:buNone/>
              <a:defRPr sz="21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  <a:defRPr sz="18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0"/>
              <a:buFont typeface="Montserrat"/>
              <a:buNone/>
              <a:defRPr sz="14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p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p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layfair Display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ctrTitle"/>
          </p:nvPr>
        </p:nvSpPr>
        <p:spPr>
          <a:xfrm>
            <a:off x="327317" y="1031316"/>
            <a:ext cx="8455500" cy="21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Computing</a:t>
            </a:r>
            <a:br>
              <a:rPr lang="en" dirty="0" smtClean="0"/>
            </a:br>
            <a:r>
              <a:rPr lang="en" dirty="0" smtClean="0"/>
              <a:t>Project Dissertation</a:t>
            </a:r>
            <a:endParaRPr dirty="0"/>
          </a:p>
        </p:txBody>
      </p:sp>
      <p:sp>
        <p:nvSpPr>
          <p:cNvPr id="108" name="Google Shape;108;p25"/>
          <p:cNvSpPr txBox="1">
            <a:spLocks noGrp="1"/>
          </p:cNvSpPr>
          <p:nvPr>
            <p:ph type="subTitle" idx="1"/>
          </p:nvPr>
        </p:nvSpPr>
        <p:spPr>
          <a:xfrm>
            <a:off x="327317" y="3686117"/>
            <a:ext cx="4910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Introductory sessions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>
            <a:spLocks noGrp="1"/>
          </p:cNvSpPr>
          <p:nvPr>
            <p:ph type="title"/>
          </p:nvPr>
        </p:nvSpPr>
        <p:spPr>
          <a:xfrm>
            <a:off x="311700" y="25159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</a:pPr>
            <a: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Items to discuss 1st session</a:t>
            </a:r>
            <a:endParaRPr dirty="0"/>
          </a:p>
        </p:txBody>
      </p:sp>
      <p:sp>
        <p:nvSpPr>
          <p:cNvPr id="114" name="Google Shape;114;p26"/>
          <p:cNvSpPr txBox="1">
            <a:spLocks noGrp="1"/>
          </p:cNvSpPr>
          <p:nvPr>
            <p:ph type="body" idx="4294967295"/>
          </p:nvPr>
        </p:nvSpPr>
        <p:spPr>
          <a:xfrm>
            <a:off x="302175" y="813508"/>
            <a:ext cx="8520600" cy="401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-GB" sz="1800" b="0" i="0" u="sng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Dissertation material on Nile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Dissertation timeline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a Dissertation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Choosing a project/topic/title </a:t>
            </a:r>
          </a:p>
          <a:p>
            <a:pPr lvl="1" indent="-342900">
              <a:spcBef>
                <a:spcPts val="0"/>
              </a:spcBef>
              <a:buSzPts val="1800"/>
              <a:buFont typeface="Courier New" pitchFamily="49" charset="0"/>
              <a:buChar char="o"/>
            </a:pPr>
            <a:r>
              <a:rPr lang="en-GB" b="0" i="0" u="none" strike="noStrike" cap="none" dirty="0" smtClean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 your details in the class list</a:t>
            </a:r>
            <a:endParaRPr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Supervisor </a:t>
            </a:r>
            <a:r>
              <a:rPr lang="en" sz="1800" b="0" i="0" u="none" strike="noStrike" cap="none" dirty="0" smtClean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allocation process</a:t>
            </a:r>
            <a:endParaRPr dirty="0"/>
          </a:p>
          <a:p>
            <a:r>
              <a:rPr lang="en-GB" dirty="0" smtClean="0"/>
              <a:t>Forming </a:t>
            </a:r>
            <a:r>
              <a:rPr lang="en-GB" dirty="0"/>
              <a:t>a Research question</a:t>
            </a:r>
          </a:p>
          <a:p>
            <a:pPr lvl="1">
              <a:spcBef>
                <a:spcPts val="0"/>
              </a:spcBef>
            </a:pPr>
            <a:r>
              <a:rPr lang="en-GB" dirty="0"/>
              <a:t>Leading to a title</a:t>
            </a:r>
          </a:p>
          <a:p>
            <a:pPr lvl="1">
              <a:spcBef>
                <a:spcPts val="0"/>
              </a:spcBef>
            </a:pPr>
            <a:r>
              <a:rPr lang="en-GB" dirty="0"/>
              <a:t>Class activity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Activity/task for next week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AOB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>
            <a:spLocks noGrp="1"/>
          </p:cNvSpPr>
          <p:nvPr>
            <p:ph type="title"/>
          </p:nvPr>
        </p:nvSpPr>
        <p:spPr>
          <a:xfrm>
            <a:off x="311700" y="223674"/>
            <a:ext cx="8520600" cy="170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</a:pPr>
            <a: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r>
              <a:rPr lang="en" sz="3000" b="0" i="0" u="none" strike="noStrike" cap="none" baseline="30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nd</a:t>
            </a:r>
            <a: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 session: </a:t>
            </a:r>
            <a:b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dirty="0"/>
              <a:t>A presentation by the Library &amp; the Learning support Unit</a:t>
            </a:r>
            <a: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b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b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/>
            </a:r>
            <a:b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dirty="0"/>
              <a:t/>
            </a:r>
            <a:br>
              <a:rPr lang="en" dirty="0"/>
            </a:br>
            <a:r>
              <a:rPr lang="en" dirty="0"/>
              <a:t/>
            </a:r>
            <a:br>
              <a:rPr lang="en" dirty="0"/>
            </a:br>
            <a:endParaRPr dirty="0"/>
          </a:p>
        </p:txBody>
      </p:sp>
      <p:sp>
        <p:nvSpPr>
          <p:cNvPr id="120" name="Google Shape;120;p27"/>
          <p:cNvSpPr txBox="1">
            <a:spLocks noGrp="1"/>
          </p:cNvSpPr>
          <p:nvPr>
            <p:ph type="body" idx="4294967295"/>
          </p:nvPr>
        </p:nvSpPr>
        <p:spPr>
          <a:xfrm>
            <a:off x="265100" y="826325"/>
            <a:ext cx="8520600" cy="3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600"/>
              </a:spcBef>
              <a:buNone/>
            </a:pPr>
            <a:endParaRPr lang="en-GB" dirty="0"/>
          </a:p>
          <a:p>
            <a:pPr marL="0" indent="0">
              <a:spcBef>
                <a:spcPts val="1600"/>
              </a:spcBef>
            </a:pPr>
            <a:endParaRPr lang="en-GB" dirty="0"/>
          </a:p>
          <a:p>
            <a:pPr marL="0" indent="0">
              <a:spcBef>
                <a:spcPts val="1600"/>
              </a:spcBef>
            </a:pPr>
            <a:r>
              <a:rPr lang="en-GB" dirty="0"/>
              <a:t>How to write a Project Proposal – (forming Research Question)</a:t>
            </a:r>
          </a:p>
          <a:p>
            <a:pPr marL="0" indent="0">
              <a:spcBef>
                <a:spcPts val="1600"/>
              </a:spcBef>
            </a:pPr>
            <a:r>
              <a:rPr lang="en-GB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best to search the UON research databases for your project </a:t>
            </a: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</a:pPr>
            <a:r>
              <a:rPr lang="en" sz="3000" b="0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Items to discuss 3rd session</a:t>
            </a:r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body" idx="4294967295"/>
          </p:nvPr>
        </p:nvSpPr>
        <p:spPr>
          <a:xfrm>
            <a:off x="311700" y="1234074"/>
            <a:ext cx="8520600" cy="50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Choosing a project – RQ </a:t>
            </a:r>
            <a:r>
              <a:rPr lang="en-GB" sz="1200" dirty="0"/>
              <a:t>revisit</a:t>
            </a:r>
          </a:p>
          <a:p>
            <a:pPr lvl="0"/>
            <a:r>
              <a:rPr lang="en-GB" dirty="0"/>
              <a:t>Forming a Research question </a:t>
            </a:r>
            <a:r>
              <a:rPr lang="en-GB" sz="1200" dirty="0"/>
              <a:t>cont.</a:t>
            </a:r>
          </a:p>
          <a:p>
            <a:pPr lvl="1">
              <a:spcBef>
                <a:spcPts val="0"/>
              </a:spcBef>
            </a:pPr>
            <a:r>
              <a:rPr lang="en-GB" dirty="0"/>
              <a:t>Complete the table – if not already done so</a:t>
            </a:r>
            <a:r>
              <a:rPr lang="en-GB" dirty="0" smtClean="0"/>
              <a:t>!</a:t>
            </a:r>
          </a:p>
          <a:p>
            <a:pPr lvl="0"/>
            <a:r>
              <a:rPr lang="en-GB" dirty="0" smtClean="0"/>
              <a:t>Setting Aim and Objectives</a:t>
            </a:r>
          </a:p>
          <a:p>
            <a:pPr lvl="1">
              <a:spcBef>
                <a:spcPts val="0"/>
              </a:spcBef>
            </a:pPr>
            <a:r>
              <a:rPr lang="en-GB" dirty="0" smtClean="0"/>
              <a:t>Leading to a </a:t>
            </a:r>
            <a:r>
              <a:rPr lang="en-GB" dirty="0" smtClean="0"/>
              <a:t>title</a:t>
            </a:r>
          </a:p>
          <a:p>
            <a:pPr lvl="1">
              <a:spcBef>
                <a:spcPts val="0"/>
              </a:spcBef>
            </a:pPr>
            <a:endParaRPr lang="en-GB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Activity/task for next week</a:t>
            </a:r>
          </a:p>
          <a:p>
            <a:endParaRPr lang="en"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276750" y="188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</a:pPr>
            <a:r>
              <a:rPr lang="en" sz="3000" b="0" i="0" u="none" strike="noStrike" cap="none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Items to discuss last session</a:t>
            </a:r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body" idx="4294967295"/>
          </p:nvPr>
        </p:nvSpPr>
        <p:spPr>
          <a:xfrm>
            <a:off x="311700" y="890400"/>
            <a:ext cx="8520600" cy="4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dirty="0"/>
              <a:t>Review the module assessment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 smtClean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Writing </a:t>
            </a: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Proposal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the guideline- (proforma)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-GB" dirty="0"/>
              <a:t>T</a:t>
            </a:r>
            <a:r>
              <a:rPr lang="en" dirty="0" err="1"/>
              <a:t>esting</a:t>
            </a:r>
            <a:r>
              <a:rPr lang="en" dirty="0"/>
              <a:t> and evaluation strategy – definition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" dirty="0"/>
              <a:t>Writing your literature review - referencing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Supervisor meetings</a:t>
            </a: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the form to keep log/diary</a:t>
            </a:r>
            <a:endParaRPr sz="14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</a:pPr>
            <a:r>
              <a:rPr lang="en" sz="1800" b="0" i="0" u="sng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Beyond next week</a:t>
            </a:r>
            <a:endParaRPr u="sng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Interim report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Writing up the Dissertation (final report)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259275" y="182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</a:pPr>
            <a:r>
              <a:rPr lang="en" sz="2000" dirty="0" smtClean="0"/>
              <a:t>Development type Project Dissertation - Assessment </a:t>
            </a:r>
            <a:r>
              <a:rPr lang="en" sz="2000" dirty="0"/>
              <a:t>Criterion</a:t>
            </a:r>
            <a:endParaRPr sz="2000" dirty="0"/>
          </a:p>
        </p:txBody>
      </p:sp>
      <p:sp>
        <p:nvSpPr>
          <p:cNvPr id="138" name="Google Shape;138;p30"/>
          <p:cNvSpPr txBox="1">
            <a:spLocks noGrp="1"/>
          </p:cNvSpPr>
          <p:nvPr>
            <p:ph type="body" idx="4294967295"/>
          </p:nvPr>
        </p:nvSpPr>
        <p:spPr>
          <a:xfrm>
            <a:off x="185352" y="865666"/>
            <a:ext cx="8520600" cy="4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Playfair Display"/>
              <a:buChar char="●"/>
            </a:pPr>
            <a:r>
              <a:rPr lang="en" sz="1200" dirty="0"/>
              <a:t>Marking breakdown (draft)</a:t>
            </a:r>
            <a:endParaRPr sz="1200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Dissertation Final report &amp; viva   100% </a:t>
            </a:r>
            <a:endParaRPr sz="12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Viva 10%*</a:t>
            </a:r>
            <a:endParaRPr sz="1200" dirty="0"/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Intellectual Challenge</a:t>
            </a:r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Context:Introduction, RQ, Aim &amp; Objectives</a:t>
            </a:r>
            <a:r>
              <a:rPr lang="en-GB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10</a:t>
            </a: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%</a:t>
            </a:r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dirty="0"/>
              <a:t>Literature review 10%</a:t>
            </a:r>
            <a:endParaRPr lang="en-GB" sz="12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 &amp; Design 10%</a:t>
            </a:r>
            <a:endParaRPr sz="1200" dirty="0"/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Implementation/Development 15%</a:t>
            </a:r>
            <a:endParaRPr sz="1200" dirty="0"/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Discusion: Testing &amp; Evaluation 10%</a:t>
            </a:r>
            <a:endParaRPr sz="12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dirty="0"/>
              <a:t>Summary: Conclusions, Critique &amp; Future Development 10%</a:t>
            </a:r>
            <a:endParaRPr sz="1200" dirty="0"/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Report quality 10%</a:t>
            </a:r>
            <a:endParaRPr sz="1200" dirty="0"/>
          </a:p>
          <a:p>
            <a: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management 15%</a:t>
            </a:r>
          </a:p>
          <a:p>
            <a:pPr lvl="4">
              <a:spcBef>
                <a:spcPts val="0"/>
              </a:spcBef>
              <a:buFont typeface="Playfair Display"/>
              <a:buChar char="●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includes:</a:t>
            </a:r>
            <a:endParaRPr sz="12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  progress logs </a:t>
            </a:r>
            <a:endParaRPr sz="1200" dirty="0"/>
          </a:p>
          <a:p>
            <a: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Proposal</a:t>
            </a:r>
            <a:endParaRPr sz="1200" dirty="0"/>
          </a:p>
          <a:p>
            <a: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</a:pPr>
            <a:r>
              <a:rPr lang="en" sz="1200" b="0" i="0" u="none" strike="noStrike" cap="none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Interim report</a:t>
            </a:r>
          </a:p>
          <a:p>
            <a:pPr>
              <a:buNone/>
            </a:pPr>
            <a:r>
              <a:rPr lang="en-GB" sz="1000" dirty="0"/>
              <a:t>*Should you fail to attend an agreed viva or fail to convincingly defend your project at the viva, you will fail</a:t>
            </a:r>
            <a:r>
              <a:rPr lang="en-GB" dirty="0"/>
              <a:t>. </a:t>
            </a:r>
          </a:p>
          <a:p>
            <a:pPr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None/>
            </a:pPr>
            <a:endParaRPr sz="1800" b="0" i="0" u="none" strike="noStrike" cap="none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65474D-C180-45F7-9E5D-89792FFC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69" y="232191"/>
            <a:ext cx="8520600" cy="572700"/>
          </a:xfrm>
        </p:spPr>
        <p:txBody>
          <a:bodyPr/>
          <a:lstStyle/>
          <a:p>
            <a:r>
              <a:rPr lang="en-GB" sz="2000" dirty="0"/>
              <a:t>Business </a:t>
            </a:r>
            <a:r>
              <a:rPr lang="en" sz="2000" dirty="0"/>
              <a:t>Computing </a:t>
            </a:r>
            <a:r>
              <a:rPr lang="en" sz="2000" dirty="0" smtClean="0"/>
              <a:t>type Project Dissertation - Assessment </a:t>
            </a:r>
            <a:r>
              <a:rPr lang="en" sz="2000" dirty="0"/>
              <a:t>Criterion</a:t>
            </a:r>
            <a:endParaRPr lang="en-GB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A866153-B5BC-4FC6-8894-115EC5E4C1D3}"/>
              </a:ext>
            </a:extLst>
          </p:cNvPr>
          <p:cNvSpPr/>
          <p:nvPr/>
        </p:nvSpPr>
        <p:spPr>
          <a:xfrm>
            <a:off x="969579" y="1016216"/>
            <a:ext cx="7417676" cy="399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115000"/>
              </a:lnSpc>
              <a:buClr>
                <a:schemeClr val="dk2"/>
              </a:buClr>
              <a:buSzPts val="2700"/>
              <a:buFont typeface="Playfair Display"/>
              <a:buChar char="●"/>
            </a:pPr>
            <a:r>
              <a:rPr lang="en-GB" dirty="0">
                <a:latin typeface="Playfair Display"/>
              </a:rPr>
              <a:t>Marking breakdown (draft)</a:t>
            </a:r>
          </a:p>
          <a:p>
            <a:pPr marL="914400" lvl="1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○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Dissertation Final report &amp; viva   100% </a:t>
            </a:r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Viva 10%*</a:t>
            </a:r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Intellectual Challenge</a:t>
            </a:r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Rational &amp; Research objectives 10%</a:t>
            </a:r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Critical review of Literature 20%</a:t>
            </a:r>
            <a:endParaRPr lang="en-GB" dirty="0"/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Analysis 15%</a:t>
            </a:r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 &amp; methodology 10%</a:t>
            </a:r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latin typeface="Playfair Display"/>
              </a:rPr>
              <a:t>Conclusions &amp; recommendations 10%</a:t>
            </a:r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Report quality 10%</a:t>
            </a:r>
            <a:endParaRPr lang="en-GB" dirty="0"/>
          </a:p>
          <a:p>
            <a:pPr marL="1828800" lvl="3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●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management 15% includes:</a:t>
            </a:r>
          </a:p>
          <a:p>
            <a:pPr marL="2743200" lvl="5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■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  progress logs </a:t>
            </a:r>
            <a:endParaRPr lang="en-GB" dirty="0"/>
          </a:p>
          <a:p>
            <a:pPr marL="2743200" lvl="5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■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Proposal</a:t>
            </a:r>
            <a:endParaRPr lang="en-GB" dirty="0"/>
          </a:p>
          <a:p>
            <a:pPr marL="2743200" lvl="5" indent="-317500">
              <a:lnSpc>
                <a:spcPct val="115000"/>
              </a:lnSpc>
              <a:buClr>
                <a:schemeClr val="dk2"/>
              </a:buClr>
              <a:buSzPts val="1400"/>
              <a:buFont typeface="Playfair Display"/>
              <a:buChar char="■"/>
            </a:pPr>
            <a:r>
              <a:rPr lang="en-GB" dirty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Interim report</a:t>
            </a:r>
            <a:endParaRPr lang="en-GB" dirty="0"/>
          </a:p>
          <a:p>
            <a:endParaRPr lang="en-GB" sz="1800" dirty="0">
              <a:solidFill>
                <a:schemeClr val="dk2"/>
              </a:solidFill>
              <a:latin typeface="Playfair Display"/>
              <a:sym typeface="Playfair Display"/>
            </a:endParaRPr>
          </a:p>
          <a:p>
            <a:r>
              <a:rPr lang="en-GB" sz="1000" dirty="0">
                <a:latin typeface="Playfair Display"/>
              </a:rPr>
              <a:t>*Should you fail to attend an agreed viva or fail to convincingly defend your project at the viva, you will fail. </a:t>
            </a:r>
          </a:p>
        </p:txBody>
      </p:sp>
    </p:spTree>
    <p:extLst>
      <p:ext uri="{BB962C8B-B14F-4D97-AF65-F5344CB8AC3E}">
        <p14:creationId xmlns="" xmlns:p14="http://schemas.microsoft.com/office/powerpoint/2010/main" val="3622225086"/>
      </p:ext>
    </p:extLst>
  </p:cSld>
  <p:clrMapOvr>
    <a:masterClrMapping/>
  </p:clrMapOvr>
</p:sld>
</file>

<file path=ppt/theme/theme1.xml><?xml version="1.0" encoding="utf-8"?>
<a:theme xmlns:a="http://schemas.openxmlformats.org/drawingml/2006/main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357</Words>
  <Application>Microsoft Macintosh PowerPoint</Application>
  <PresentationFormat>On-screen Show (16:9)</PresentationFormat>
  <Paragraphs>83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Playfair Display</vt:lpstr>
      <vt:lpstr>Montserrat</vt:lpstr>
      <vt:lpstr>Oswald</vt:lpstr>
      <vt:lpstr>Courier New</vt:lpstr>
      <vt:lpstr>Pop</vt:lpstr>
      <vt:lpstr>Pop</vt:lpstr>
      <vt:lpstr>Computing Project Dissertation</vt:lpstr>
      <vt:lpstr>Items to discuss 1st session</vt:lpstr>
      <vt:lpstr>2nd session:  A presentation by the Library &amp; the Learning support Unit     </vt:lpstr>
      <vt:lpstr>Items to discuss 3rd session</vt:lpstr>
      <vt:lpstr>Items to discuss last session</vt:lpstr>
      <vt:lpstr>Development type Project Dissertation - Assessment Criterion</vt:lpstr>
      <vt:lpstr>Business Computing type Project Dissertation - Assessment Criterion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Dissertation</dc:title>
  <dc:creator>Amir Minai</dc:creator>
  <cp:lastModifiedBy>Amir</cp:lastModifiedBy>
  <cp:revision>28</cp:revision>
  <dcterms:modified xsi:type="dcterms:W3CDTF">2024-09-30T12:23:37Z</dcterms:modified>
</cp:coreProperties>
</file>